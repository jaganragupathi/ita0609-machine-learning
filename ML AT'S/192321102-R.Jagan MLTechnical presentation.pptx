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an ragupathi" userId="c9747f9528a4686f" providerId="LiveId" clId="{5CBDDFE3-EA06-4115-AA05-683107A8FD9A}"/>
    <pc:docChg chg="custSel modSld">
      <pc:chgData name="jagan ragupathi" userId="c9747f9528a4686f" providerId="LiveId" clId="{5CBDDFE3-EA06-4115-AA05-683107A8FD9A}" dt="2026-07-27T09:03:40.167" v="0" actId="478"/>
      <pc:docMkLst>
        <pc:docMk/>
      </pc:docMkLst>
      <pc:sldChg chg="delSp mod">
        <pc:chgData name="jagan ragupathi" userId="c9747f9528a4686f" providerId="LiveId" clId="{5CBDDFE3-EA06-4115-AA05-683107A8FD9A}" dt="2026-07-27T09:03:40.167" v="0" actId="478"/>
        <pc:sldMkLst>
          <pc:docMk/>
          <pc:sldMk cId="0" sldId="271"/>
        </pc:sldMkLst>
        <pc:spChg chg="del">
          <ac:chgData name="jagan ragupathi" userId="c9747f9528a4686f" providerId="LiveId" clId="{5CBDDFE3-EA06-4115-AA05-683107A8FD9A}" dt="2026-07-27T09:03:40.167" v="0" actId="478"/>
          <ac:spMkLst>
            <pc:docMk/>
            <pc:sldMk cId="0" sldId="27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47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A0DE-53B0-8900-B4F6-4548E650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9B25-7544-6061-F4B6-82E334E75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346B6-83EA-2CAE-3534-E1F4FE47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56F1D-20A6-4E5C-BCC3-50DF852754D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F5FF7-46DD-29F5-2B67-2E720FF4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597B0-396B-16EF-1CE4-D7CF5CA7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8DECE-491C-4D63-8671-4149467AF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6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676400" y="1938144"/>
            <a:ext cx="9491268" cy="153875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4705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sz="2400" spc="-35" dirty="0"/>
              <a:t>Technical </a:t>
            </a:r>
            <a:r>
              <a:rPr sz="2400" spc="-35" dirty="0"/>
              <a:t> </a:t>
            </a:r>
            <a:r>
              <a:rPr sz="2400" spc="-10" dirty="0"/>
              <a:t>presentation</a:t>
            </a:r>
            <a:endParaRPr lang="en-IN" sz="2400" spc="-10" dirty="0"/>
          </a:p>
          <a:p>
            <a:pPr marL="0" indent="0" algn="just">
              <a:buNone/>
            </a:pPr>
            <a:r>
              <a:rPr lang="en-IN" b="1" dirty="0"/>
              <a:t>Concept Learning &amp;Hypothesis Representation</a:t>
            </a:r>
          </a:p>
          <a:p>
            <a:pPr marL="0" indent="0" algn="ctr">
              <a:buNone/>
            </a:pPr>
            <a:r>
              <a:rPr lang="en-IN" sz="2400" b="1" i="1" spc="-50" dirty="0"/>
              <a:t>ITA0609-Machine 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2890" y="4177779"/>
            <a:ext cx="5105400" cy="146450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5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sz="2000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Jagan R - 192321102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49237" y="4735045"/>
            <a:ext cx="3879963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Times New Roman"/>
                <a:cs typeface="Times New Roman"/>
              </a:rPr>
              <a:t>Guided</a:t>
            </a:r>
            <a:r>
              <a:rPr sz="2600" b="1" spc="-114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By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 Shri Vindhya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/>
              <a:t>SIMATS</a:t>
            </a:r>
            <a:r>
              <a:rPr sz="2800" spc="-125" dirty="0"/>
              <a:t> </a:t>
            </a:r>
            <a:r>
              <a:rPr sz="2800" spc="-10" dirty="0"/>
              <a:t>ENGINEERING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Learning Task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6F7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of automatically inferring a general boolean-valued function (a target concept) from a set of labeled training examples.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is described by attributes and labeled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learner searches a hypothesis space for a hypothesis that fits both training and future instances.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EnjoySport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from Sky, AirTemp, Humidity, Wind, Water, Forecast, whether a friend enjoys a water sport (Yes/No).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219456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816352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8163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AirTemp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43814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34381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405993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0599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681728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6817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53035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in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theoretical basis for supervised learning and classification tasks.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3524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Search-Based 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learning as searching a hypothesis space for the best-fitting hypothesis.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for Advanced Algorithms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617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generalization and specialization underlie decision trees and rule induction.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160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3524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4617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labeled examples into an explicit, human-interpretable rule.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Representation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h is a conjunction of constraints on the instance attributes: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 = Sunny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must exactly match this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3A4A9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(don't care)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AirTemp =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of the attribute is acceptable.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5B6482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 (no value)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 = 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hypothesis rejects every instance.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?, ?⟩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positive whenever Sky=Sunny, AirTemp=Warm, Wind=Strong (others don't matter).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general: </a:t>
            </a: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⟨?,?,?,?,?,?⟩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positive      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specific: </a:t>
            </a: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⟨∅,∅,∅,∅,∅,∅⟩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negative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&amp;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Hypotheses &amp; General-to-Specific Ordering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6F7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Hypothesis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correctly classifies a training example — positives satisfy h, negatives do not.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must be consistent with every training example.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judged by correct predictions on unseen instances, not just training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→ Specific Lattice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4937760"/>
            <a:ext cx="3383280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937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⟨?,?,?,?,?,?⟩  most general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5321808"/>
            <a:ext cx="0" cy="320040"/>
          </a:xfrm>
          <a:prstGeom prst="line">
            <a:avLst/>
          </a:prstGeom>
          <a:noFill/>
          <a:ln w="19050">
            <a:solidFill>
              <a:srgbClr val="5B648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737360" y="5669280"/>
            <a:ext cx="3017520" cy="365760"/>
          </a:xfrm>
          <a:prstGeom prst="roundRect">
            <a:avLst>
              <a:gd name="adj" fmla="val 125000"/>
            </a:avLst>
          </a:prstGeom>
          <a:solidFill>
            <a:srgbClr val="3A4A9E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5669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?, ?⟩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General-to-Specific Ordering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≥g h2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(h1 is more general than or equal to h2) if every instance satisfying h2 also satisfies h1.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relation is reflexive, antisymmetric and transitive — a partial order that structures the hypothesis space as a lattice.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a learner navigate the space systematically — generalizing (moving up) or specializing (moving down) — without enumerating every hypothesis.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5074920"/>
            <a:ext cx="4937760" cy="0"/>
          </a:xfrm>
          <a:prstGeom prst="line">
            <a:avLst/>
          </a:prstGeom>
          <a:noFill/>
          <a:ln w="12700">
            <a:solidFill>
              <a:srgbClr val="F2B134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training examples: positives → generalize; negatives → specialize.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Training Examples in Refining Hypotheses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Example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hypothesis to become MORE GENERAL, so that it also covers the new positive instance.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4709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868680" y="4160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F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generalize just enough to include the new example.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B23A4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609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Example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hypothesis to become MORE SPECIFIC, so that it no longer covers the new negative instance.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4023360"/>
            <a:ext cx="4709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6492240" y="4160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specialize just enough to exclude the new example.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repeatedly generalizing on positives and specializing on negatives, the learner incrementally refines its hypothesis until it converges to one consistent with all data seen so far.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Insights: Classification &amp; Knowledge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hypothesis acts as a classifier — given a new instance, it predicts positive or negative membership in the target concept.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EDEFF7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246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hypothesis is a compact, interpretable rule — turning raw labeled examples into explicit, reusable domain knowledge.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4754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Limitations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hypotheses to conjunctions reveals the importance of representational bias — some concepts (e.g., disjunctive) can't be expressed, motivating richer representations.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41A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5 MARKS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Spaces &amp; Candidate Elimination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Version Space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6F7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VS(H, D)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subset of all hypotheses in H that are consistent with all training examples in 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hypothesis, it represents EVERY hypothesis that could still be the correct target concept, given the data seen so far.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examples arrive, inconsistent hypotheses are eliminated and the version space shrinks — ideally converging to a single hypothesis.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every hypothesis is infeasible — so it's represented compactly via its two extreme boundaries: S and 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508760"/>
            <a:ext cx="4480560" cy="457200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 Shrinks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194560"/>
            <a:ext cx="393192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0 examples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2971800"/>
            <a:ext cx="301752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2971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example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3749040"/>
            <a:ext cx="192024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examples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4526280"/>
            <a:ext cx="1005840" cy="502920"/>
          </a:xfrm>
          <a:prstGeom prst="roundRect">
            <a:avLst>
              <a:gd name="adj" fmla="val 54545"/>
            </a:avLst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(S) and General (G)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3A4A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— Specific Boundary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most specific hypotheses in H consistent with the data. Each member covers as few instances as possible while still classifying all positive examples correctly.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— General Boundary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most general hypotheses in H consistent with the data. Each member covers as many instances as possible while still excluding all negative examples.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1852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 and G bound the version 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 in the version space lies between some member of S and some member of G in the general-to-specific ordering. Every hypothesis consistent with the data lies in this S-to-G interval — guaranteed by the Version Space Representation Theorem.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Candidate Elimination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version space incrementally by maintaining and updating S and G as each training example arrives.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141A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← { most specific hypothesis in H }   e.g.  ⟨∅, ∅, ∅, ∅, ∅, ∅⟩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← { most general hypothesis in H }   e.g.  ⟨?, ?, ?, ?, ?, ?⟩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training example, S and G are updated as follows: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Example  →  see next slide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S; prune 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Example  →  see next slide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G; prune 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on a Positive Training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5544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55448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inconsistent with the new positive example (does not cover it).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78892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7889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 in S that doesn't cover the example, remove s and add all minimal generalizations of s that (a) cover the example and (b) are more specific than some hypothesis in 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402336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02336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more general than another hypothesis already in S — keep only the most specific ones.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positive example shows S may be too narrow — generalize S just enough to include it; drop any G hypothesis that wrongly excludes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on a Negative Training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5544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55448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inconsistent with the new negative example (incorrectly covers it).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78892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7889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 in G that covers the negative example, remove g and add all minimal specializations of g that (a) exclude the example and (b) are more general than some hypothesis in 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402336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02336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more specific than another hypothesis already in G — keep only the most general ones.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B23A4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negative example shows G may be too broad — specialize G just enough to exclude it; drop any S hypothesis that wrongly covers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&amp; Significance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generalized and G is specialized until, with enough noise-free examples, both converge to the same single hypothesis — the target concept.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DEFF7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only boundary sets S and G (not every hypothesis) represents the whole version space compactly and updates it incrementally.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New Instances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instance is classified confidently if all hypotheses in the version space agree; otherwise it's ambiguous, guiding the choice of further examples.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DEFF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526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noise-free data and that H contains the true target concept; noisy data can collapse S and G to an empty version space.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141A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concept learning to candidate elimination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frames classification as a search over a hypothesis space; the general-to-specific ordering and version spaces — maintained via the S and G boundaries in Candidate Elimination — make that search efficient and interpretable.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1423</Words>
  <Application>Microsoft Office PowerPoint</Application>
  <PresentationFormat>Widescreen</PresentationFormat>
  <Paragraphs>176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Times New Roman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jagan ragupathi</cp:lastModifiedBy>
  <cp:revision>2</cp:revision>
  <dcterms:created xsi:type="dcterms:W3CDTF">2026-07-25T20:32:12Z</dcterms:created>
  <dcterms:modified xsi:type="dcterms:W3CDTF">2026-07-27T09:03:42Z</dcterms:modified>
</cp:coreProperties>
</file>